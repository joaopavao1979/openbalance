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2" r:id="rId2"/>
    <p:sldId id="256" r:id="rId3"/>
    <p:sldId id="309" r:id="rId4"/>
    <p:sldId id="316" r:id="rId5"/>
    <p:sldId id="317" r:id="rId6"/>
    <p:sldId id="314" r:id="rId7"/>
    <p:sldId id="318" r:id="rId8"/>
    <p:sldId id="315" r:id="rId9"/>
    <p:sldId id="319" r:id="rId10"/>
    <p:sldId id="320" r:id="rId11"/>
    <p:sldId id="322" r:id="rId12"/>
    <p:sldId id="323" r:id="rId13"/>
    <p:sldId id="324" r:id="rId14"/>
    <p:sldId id="325" r:id="rId15"/>
    <p:sldId id="321" r:id="rId16"/>
    <p:sldId id="328" r:id="rId17"/>
    <p:sldId id="326" r:id="rId18"/>
    <p:sldId id="329" r:id="rId19"/>
    <p:sldId id="327" r:id="rId2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33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90" y="294"/>
      </p:cViewPr>
      <p:guideLst>
        <p:guide orient="horz" pos="2205"/>
        <p:guide pos="388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996CB-EACF-41A9-BEC2-1DB6881650EF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A8FDA-5F65-4BDE-942E-D0A83EE6909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967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A8FDA-5F65-4BDE-942E-D0A83EE6909E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83998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9C639F7-BBFB-FB98-9D82-D2C9EBD5E27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9" b="24324"/>
          <a:stretch>
            <a:fillRect/>
          </a:stretch>
        </p:blipFill>
        <p:spPr bwMode="auto">
          <a:xfrm>
            <a:off x="7783286" y="4831255"/>
            <a:ext cx="4479464" cy="202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AD66933-5B0E-A06E-388B-90AEF8049C45}"/>
              </a:ext>
            </a:extLst>
          </p:cNvPr>
          <p:cNvGrpSpPr/>
          <p:nvPr userDrawn="1"/>
        </p:nvGrpSpPr>
        <p:grpSpPr>
          <a:xfrm>
            <a:off x="-54430" y="-141517"/>
            <a:ext cx="12423531" cy="685799"/>
            <a:chOff x="-54430" y="-141517"/>
            <a:chExt cx="12423531" cy="685799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1D74287C-5824-05C8-E89A-0B82FEF980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1462"/>
            <a:stretch>
              <a:fillRect/>
            </a:stretch>
          </p:blipFill>
          <p:spPr bwMode="auto">
            <a:xfrm>
              <a:off x="8936124" y="-130631"/>
              <a:ext cx="3432977" cy="65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AA2AE2F-2DCD-19C2-C14D-F1FFDA6F413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1462"/>
            <a:stretch>
              <a:fillRect/>
            </a:stretch>
          </p:blipFill>
          <p:spPr bwMode="auto">
            <a:xfrm>
              <a:off x="-54430" y="-108860"/>
              <a:ext cx="3432977" cy="65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A4308CFB-C00B-2F9B-7B7B-B6DBF74148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1462"/>
            <a:stretch>
              <a:fillRect/>
            </a:stretch>
          </p:blipFill>
          <p:spPr bwMode="auto">
            <a:xfrm>
              <a:off x="2946050" y="-141517"/>
              <a:ext cx="3432977" cy="65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19CD0DE4-4DD2-BBA5-FE28-454769D0BA3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1462"/>
            <a:stretch>
              <a:fillRect/>
            </a:stretch>
          </p:blipFill>
          <p:spPr bwMode="auto">
            <a:xfrm>
              <a:off x="5957416" y="-141517"/>
              <a:ext cx="3432977" cy="653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4227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ABE65-51B0-E80D-8923-CB0AB49C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196D038-43B7-BBA6-4667-E714FE854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EBFDB08-9244-29E1-41BF-0F16B22C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267603-14F5-0C6B-A63C-942E01AB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EFE5BDB-ABD4-74F5-D143-E9BB17E5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376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E2624-7B55-8B7A-4B47-3615F720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282F244-EA7E-173D-5A90-66499D180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02EC213-9FD8-327C-DA53-09879840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7D49DE-3169-BEF7-E3EE-33E53EA6B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50652AA-B22B-AFF8-34C9-46595AD6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656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E27DB-D027-4F64-7B75-E92C958E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DF11E84-B4F4-400F-DA95-9C74B1CB8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D6885ED-EA2B-CDA4-83E8-0BC5BFAA2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7D62985-97B8-FE7B-99C8-F59D8793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B4350F4-B2B6-BCEA-B805-401D16E2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2A99B12-47F4-42EE-6374-05C11270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96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1B28D-BB13-DF33-F43D-D87C6C24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938030F-208E-DA4D-65F9-DA7886E99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4EF93CD-D0C2-1C3E-4869-6DFE21711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00EB205-0BA0-8E95-FD63-2DF07EFEC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0A33C73-A822-3E39-8EE9-419B2CBCB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D6A2108-FA2A-4985-9F3B-2D48DCFC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D6E1203-4170-AACB-628B-AEABF5E6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1668BFE-08FE-DB4F-5836-369C8D2F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2284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8F5F1-4856-9D3A-7E86-FD019D26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E25FF70-1D03-DB03-50A8-E7F702A1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C8631BB-A397-8419-6077-E41CE614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B04B2E5-86D0-D3EB-665E-6A7EA1EB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465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5995ADA-8F45-DE05-F88E-37CF080C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CB23FC3-1D90-C87F-0A12-DB1CD2CF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4A759F7-84A7-51E8-72AC-E525947F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4040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993C6-9294-7155-3753-EC46A18D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1C776C1-89EE-9495-DC14-DCEC47FD8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56C0150-B8DA-E4E7-9E7A-C43A4E9EB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996B061-494F-27B5-3923-AC12DAC3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E1E8689-F074-A6C3-73C1-B4613E29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63079B-08E8-E5C2-CE7D-5A9C4B2F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42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56965-89AF-E3B0-2E22-5D607499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0B954C8-CEDC-7C16-B1DD-4C31C4A44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2CF924C-E71B-436C-E373-53922B9D1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33BCFAE-BFFF-5D23-C434-627E34EE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E0E4B5A-89BD-1896-CBC4-D83EA7C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BEC0779-E47F-F7CA-03D9-ABF5C29F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458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9C01F-CBC0-EBC2-DA94-6DE66B4D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A560889-8D4A-B944-1712-536898BE3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7D52D0D-4C4D-91F9-5533-9A759876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AE18E1A-6375-9FA7-C5F2-A08FAD9D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68CF881-ED1E-2960-16F9-E1433A21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534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BC82D9-A2D6-9A02-5D6F-D464A730D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1966112-682D-058C-543A-3E1BB0B38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3BAEE2-F43A-6277-24F1-3EA84379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D9781D1-403A-1DB0-E651-3D0154DC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19EC7C2-237C-D77E-4C7D-B2954B96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5068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F218C2-535B-9E81-30B9-78790B75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D91AEF3-484B-392A-3ED0-536DD7D91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0598832-8E15-18BF-AE17-B6EE7D791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9FE2F-652A-4FC1-8295-58633D314320}" type="datetimeFigureOut">
              <a:rPr lang="pt-PT" smtClean="0"/>
              <a:t>27/06/2025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A4069CE-ACB6-5FD2-0403-FB15918C2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1275FBC-85D4-6718-C7D3-9D320AF05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DF0E6-2ED1-4D08-B853-A5CE1BB9FA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541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aopavao1979/OpenBalanc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Relationship Id="rId9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9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38.png"/><Relationship Id="rId4" Type="http://schemas.openxmlformats.org/officeDocument/2006/relationships/image" Target="../media/image37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9F3E6-378E-35A0-2876-65A17636994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7800" y="1398361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br>
              <a:rPr lang="en" sz="6000" dirty="0">
                <a:solidFill>
                  <a:schemeClr val="bg1"/>
                </a:solidFill>
                <a:latin typeface="Anton" pitchFamily="2" charset="0"/>
              </a:rPr>
            </a:br>
            <a:r>
              <a:rPr lang="en" sz="8800" dirty="0">
                <a:latin typeface="Anton" pitchFamily="2" charset="0"/>
              </a:rPr>
              <a:t>OpenBalance</a:t>
            </a:r>
            <a:br>
              <a:rPr lang="en" sz="8800" dirty="0">
                <a:solidFill>
                  <a:schemeClr val="bg1"/>
                </a:solidFill>
                <a:latin typeface="Anton" pitchFamily="2" charset="0"/>
              </a:rPr>
            </a:br>
            <a:br>
              <a:rPr lang="en" sz="8800" dirty="0">
                <a:solidFill>
                  <a:schemeClr val="bg1"/>
                </a:solidFill>
                <a:latin typeface="Anton" pitchFamily="2" charset="0"/>
              </a:rPr>
            </a:br>
            <a:r>
              <a:rPr lang="pt-PT" dirty="0">
                <a:solidFill>
                  <a:srgbClr val="FFFF00"/>
                </a:solidFill>
                <a:latin typeface="Anton" pitchFamily="2" charset="0"/>
              </a:rPr>
              <a:t>Plataforma de Equilíbrio com Controlo PID e Visão Computacional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C265D17-FE95-2C50-F555-84E1D778717B}"/>
              </a:ext>
            </a:extLst>
          </p:cNvPr>
          <p:cNvSpPr txBox="1">
            <a:spLocks/>
          </p:cNvSpPr>
          <p:nvPr/>
        </p:nvSpPr>
        <p:spPr>
          <a:xfrm>
            <a:off x="161925" y="4470400"/>
            <a:ext cx="77343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pt-PT" dirty="0">
              <a:solidFill>
                <a:schemeClr val="bg1"/>
              </a:solidFill>
              <a:latin typeface="Anton" pitchFamily="2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CA18DA46-2416-3C51-1865-0B6FAEE12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16394"/>
            <a:ext cx="743902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hlinkClick r:id="rId2"/>
              </a:rPr>
              <a:t>https://github.com/joaopavao1979/OpenBalance</a:t>
            </a:r>
            <a:endParaRPr kumimoji="0" lang="pt-PT" altLang="pt-PT" sz="20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20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PRIA – Laboratório de Aplicações em Robótica e Aprendizagem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Autor: João Pavão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Data: 27 de junho de 2025</a:t>
            </a:r>
          </a:p>
        </p:txBody>
      </p:sp>
    </p:spTree>
    <p:extLst>
      <p:ext uri="{BB962C8B-B14F-4D97-AF65-F5344CB8AC3E}">
        <p14:creationId xmlns:p14="http://schemas.microsoft.com/office/powerpoint/2010/main" val="369833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22;p49">
            <a:extLst>
              <a:ext uri="{FF2B5EF4-FFF2-40B4-BE49-F238E27FC236}">
                <a16:creationId xmlns:a16="http://schemas.microsoft.com/office/drawing/2014/main" id="{C1D1D909-8DC3-DDA3-1154-9255B92744E0}"/>
              </a:ext>
            </a:extLst>
          </p:cNvPr>
          <p:cNvSpPr txBox="1">
            <a:spLocks/>
          </p:cNvSpPr>
          <p:nvPr/>
        </p:nvSpPr>
        <p:spPr>
          <a:xfrm>
            <a:off x="195943" y="706035"/>
            <a:ext cx="94995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 IDEIA</a:t>
            </a:r>
          </a:p>
        </p:txBody>
      </p:sp>
      <p:sp>
        <p:nvSpPr>
          <p:cNvPr id="5" name="Google Shape;1422;p49">
            <a:extLst>
              <a:ext uri="{FF2B5EF4-FFF2-40B4-BE49-F238E27FC236}">
                <a16:creationId xmlns:a16="http://schemas.microsoft.com/office/drawing/2014/main" id="{619A5828-D730-C532-5CA4-E07117A14DD0}"/>
              </a:ext>
            </a:extLst>
          </p:cNvPr>
          <p:cNvSpPr txBox="1">
            <a:spLocks/>
          </p:cNvSpPr>
          <p:nvPr/>
        </p:nvSpPr>
        <p:spPr>
          <a:xfrm>
            <a:off x="92413" y="1278735"/>
            <a:ext cx="114128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Plataforma que equilibra uma bola automaticamente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Usa câmara para detetar a posição da bola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Controla a inclinação com dois servos (X e Y)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Algoritmo PID ajusta os ângulos em tempo real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Projeto educativo e open-</a:t>
            </a:r>
            <a:r>
              <a:rPr lang="pt-PT" sz="24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source</a:t>
            </a:r>
            <a:endParaRPr lang="pt-PT" sz="2400" dirty="0">
              <a:solidFill>
                <a:srgbClr val="FFFF00"/>
              </a:solidFill>
              <a:latin typeface="Aharoni" panose="02010803020104030203" pitchFamily="2" charset="-79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5BBF324-29D3-4586-2860-0E6D5A49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973" y="706035"/>
            <a:ext cx="2155084" cy="17878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F9E7601-76F4-B2E1-09E0-7F35EB74D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68" r="15934"/>
          <a:stretch>
            <a:fillRect/>
          </a:stretch>
        </p:blipFill>
        <p:spPr>
          <a:xfrm>
            <a:off x="8309675" y="636251"/>
            <a:ext cx="1385867" cy="18576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AFF37E-75BE-9501-71B5-B53D24B62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676" y="2770259"/>
            <a:ext cx="3686382" cy="1814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5103E0-F92E-1378-8432-615BE800A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43" y="5006566"/>
            <a:ext cx="4496862" cy="18514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68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ECEF-424D-D798-88E4-C7ABC6E5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536E336A-D580-5971-B92A-33EFFBD113D2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Estrutura Física</a:t>
            </a:r>
          </a:p>
        </p:txBody>
      </p:sp>
      <p:sp>
        <p:nvSpPr>
          <p:cNvPr id="2" name="Google Shape;1422;p49">
            <a:extLst>
              <a:ext uri="{FF2B5EF4-FFF2-40B4-BE49-F238E27FC236}">
                <a16:creationId xmlns:a16="http://schemas.microsoft.com/office/drawing/2014/main" id="{4BD60B76-C0E2-1826-3AFD-13937401A4E3}"/>
              </a:ext>
            </a:extLst>
          </p:cNvPr>
          <p:cNvSpPr txBox="1">
            <a:spLocks/>
          </p:cNvSpPr>
          <p:nvPr/>
        </p:nvSpPr>
        <p:spPr>
          <a:xfrm>
            <a:off x="389593" y="1289812"/>
            <a:ext cx="117071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Plataforma em contraplacado pintado de preto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Cruz branca no centro + borda de madeira visível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Dois braços 3D com suporte para servos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Pivô central com base côncava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Webcam fixa numa estrutura superior</a:t>
            </a:r>
          </a:p>
        </p:txBody>
      </p:sp>
    </p:spTree>
    <p:extLst>
      <p:ext uri="{BB962C8B-B14F-4D97-AF65-F5344CB8AC3E}">
        <p14:creationId xmlns:p14="http://schemas.microsoft.com/office/powerpoint/2010/main" val="148347631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F9D7-C67F-EB7A-EE72-64566582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4B0DE8EC-584E-80F0-F140-90CCA011ED21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Estrutura Física</a:t>
            </a:r>
          </a:p>
        </p:txBody>
      </p:sp>
      <p:pic>
        <p:nvPicPr>
          <p:cNvPr id="5" name="Imagem 4" descr="Uma imagem com Equipamento desportivo, mesa, interior, bola&#10;&#10;Os conteúdos gerados por IA podem estar incorretos.">
            <a:extLst>
              <a:ext uri="{FF2B5EF4-FFF2-40B4-BE49-F238E27FC236}">
                <a16:creationId xmlns:a16="http://schemas.microsoft.com/office/drawing/2014/main" id="{75204582-FC28-FE0F-6A13-6DBFC700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4" y="1542327"/>
            <a:ext cx="5703746" cy="2566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 descr="Uma imagem com interior, parede, piso, azul&#10;&#10;Os conteúdos gerados por IA podem estar incorretos.">
            <a:extLst>
              <a:ext uri="{FF2B5EF4-FFF2-40B4-BE49-F238E27FC236}">
                <a16:creationId xmlns:a16="http://schemas.microsoft.com/office/drawing/2014/main" id="{D511B79C-EFB8-4236-42D1-CB3D3E785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8" b="11632"/>
          <a:stretch>
            <a:fillRect/>
          </a:stretch>
        </p:blipFill>
        <p:spPr>
          <a:xfrm>
            <a:off x="9775448" y="671760"/>
            <a:ext cx="2208208" cy="41897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 descr="Uma imagem com plástico, bicla&#10;&#10;Os conteúdos gerados por IA podem estar incorretos.">
            <a:extLst>
              <a:ext uri="{FF2B5EF4-FFF2-40B4-BE49-F238E27FC236}">
                <a16:creationId xmlns:a16="http://schemas.microsoft.com/office/drawing/2014/main" id="{7199F73A-0B33-67CB-8287-14A025DAE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4" y="4224730"/>
            <a:ext cx="5703746" cy="2566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m 10" descr="Uma imagem com texto, parede, interior, arte&#10;&#10;Os conteúdos gerados por IA podem estar incorretos.">
            <a:extLst>
              <a:ext uri="{FF2B5EF4-FFF2-40B4-BE49-F238E27FC236}">
                <a16:creationId xmlns:a16="http://schemas.microsoft.com/office/drawing/2014/main" id="{8274180F-6687-1B6E-7EAF-79E6B0C54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4" b="21399"/>
          <a:stretch>
            <a:fillRect/>
          </a:stretch>
        </p:blipFill>
        <p:spPr>
          <a:xfrm>
            <a:off x="6167437" y="671760"/>
            <a:ext cx="3338279" cy="41897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059806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A5A4-A958-1A19-AB6C-2CAB3D0A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23F83DC5-4E77-3801-14BA-299FF97E1A8F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Estrutura Física</a:t>
            </a:r>
          </a:p>
        </p:txBody>
      </p:sp>
      <p:pic>
        <p:nvPicPr>
          <p:cNvPr id="4" name="Imagem 3" descr="Uma imagem com plástico, Azul elétrico, Azul de cobalto, Azul majorelle&#10;&#10;Os conteúdos gerados por IA podem estar incorretos.">
            <a:extLst>
              <a:ext uri="{FF2B5EF4-FFF2-40B4-BE49-F238E27FC236}">
                <a16:creationId xmlns:a16="http://schemas.microsoft.com/office/drawing/2014/main" id="{09AE864D-4ED7-9AFA-8D77-878CC2DFD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3" r="10949"/>
          <a:stretch>
            <a:fillRect/>
          </a:stretch>
        </p:blipFill>
        <p:spPr>
          <a:xfrm>
            <a:off x="104172" y="1507603"/>
            <a:ext cx="5214395" cy="2743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m 7" descr="Uma imagem com Azul elétrico, azul, interior&#10;&#10;Os conteúdos gerados por IA podem estar incorretos.">
            <a:extLst>
              <a:ext uri="{FF2B5EF4-FFF2-40B4-BE49-F238E27FC236}">
                <a16:creationId xmlns:a16="http://schemas.microsoft.com/office/drawing/2014/main" id="{80C269F9-A5AE-F1FC-0343-EC850F11B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0" r="22015"/>
          <a:stretch>
            <a:fillRect/>
          </a:stretch>
        </p:blipFill>
        <p:spPr>
          <a:xfrm>
            <a:off x="104172" y="4367782"/>
            <a:ext cx="3032567" cy="24670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m 11" descr="Uma imagem com brinquedo, plástico, azul, interior&#10;&#10;Os conteúdos gerados por IA podem estar incorretos.">
            <a:extLst>
              <a:ext uri="{FF2B5EF4-FFF2-40B4-BE49-F238E27FC236}">
                <a16:creationId xmlns:a16="http://schemas.microsoft.com/office/drawing/2014/main" id="{A3D051D0-F125-6D2F-DBF3-577C87A81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85"/>
          <a:stretch>
            <a:fillRect/>
          </a:stretch>
        </p:blipFill>
        <p:spPr>
          <a:xfrm>
            <a:off x="3264062" y="4367781"/>
            <a:ext cx="4452541" cy="24670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m 13" descr="Uma imagem com Azul elétrico, azul, interior&#10;&#10;Os conteúdos gerados por IA podem estar incorretos.">
            <a:extLst>
              <a:ext uri="{FF2B5EF4-FFF2-40B4-BE49-F238E27FC236}">
                <a16:creationId xmlns:a16="http://schemas.microsoft.com/office/drawing/2014/main" id="{EAEF7C58-59EA-4AD9-4A64-62BBF0DF6A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5" t="1" r="12084" b="1587"/>
          <a:stretch>
            <a:fillRect/>
          </a:stretch>
        </p:blipFill>
        <p:spPr>
          <a:xfrm>
            <a:off x="5584371" y="685801"/>
            <a:ext cx="3512303" cy="190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m 15" descr="Uma imagem com parede, interior, design, em madeira&#10;&#10;Os conteúdos gerados por IA podem estar incorretos.">
            <a:extLst>
              <a:ext uri="{FF2B5EF4-FFF2-40B4-BE49-F238E27FC236}">
                <a16:creationId xmlns:a16="http://schemas.microsoft.com/office/drawing/2014/main" id="{A478020A-F830-9FDE-11F4-5A4E410293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7" r="16333"/>
          <a:stretch>
            <a:fillRect/>
          </a:stretch>
        </p:blipFill>
        <p:spPr>
          <a:xfrm>
            <a:off x="8737600" y="2778259"/>
            <a:ext cx="3251199" cy="20179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519575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581E-B9D2-6B8A-6A5C-A67FC57E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1C509B96-CF4E-94D4-28C6-53A5A5F2CD2A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Eletrónica</a:t>
            </a:r>
          </a:p>
        </p:txBody>
      </p:sp>
      <p:sp>
        <p:nvSpPr>
          <p:cNvPr id="2" name="Google Shape;1422;p49">
            <a:extLst>
              <a:ext uri="{FF2B5EF4-FFF2-40B4-BE49-F238E27FC236}">
                <a16:creationId xmlns:a16="http://schemas.microsoft.com/office/drawing/2014/main" id="{57509A29-02A7-841D-566D-DBC0E0B375B2}"/>
              </a:ext>
            </a:extLst>
          </p:cNvPr>
          <p:cNvSpPr txBox="1">
            <a:spLocks/>
          </p:cNvSpPr>
          <p:nvPr/>
        </p:nvSpPr>
        <p:spPr>
          <a:xfrm>
            <a:off x="389593" y="1289812"/>
            <a:ext cx="114128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Arduino UNO para controlo central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PCA9685 para controlar servos com precisão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2 servos DM996 (15 </a:t>
            </a:r>
            <a:r>
              <a:rPr lang="pt-PT" sz="28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kg·cm</a:t>
            </a: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)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Fonte de alimentação 6V / 72W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Webcam USB ligada ao PC</a:t>
            </a:r>
          </a:p>
        </p:txBody>
      </p:sp>
    </p:spTree>
    <p:extLst>
      <p:ext uri="{BB962C8B-B14F-4D97-AF65-F5344CB8AC3E}">
        <p14:creationId xmlns:p14="http://schemas.microsoft.com/office/powerpoint/2010/main" val="69562018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91E2-EE77-DCD9-314E-957D532D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653D8E1B-92FC-4DF0-07DD-E36EB1FF1D18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Eletrónica</a:t>
            </a:r>
          </a:p>
        </p:txBody>
      </p:sp>
      <p:pic>
        <p:nvPicPr>
          <p:cNvPr id="5" name="Imagem 4" descr="Uma imagem com texto, eletrónica, Dispositivo eletrónico, cabo&#10;&#10;Os conteúdos gerados por IA podem estar incorretos.">
            <a:extLst>
              <a:ext uri="{FF2B5EF4-FFF2-40B4-BE49-F238E27FC236}">
                <a16:creationId xmlns:a16="http://schemas.microsoft.com/office/drawing/2014/main" id="{D5731B82-DAE5-6F24-5FDB-3AFEE9FFB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3" t="12026" r="8392"/>
          <a:stretch>
            <a:fillRect/>
          </a:stretch>
        </p:blipFill>
        <p:spPr>
          <a:xfrm>
            <a:off x="8549250" y="674255"/>
            <a:ext cx="3402015" cy="17031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 descr="Uma imagem com Engenharia eletrónica, eletrónica, Componente de circuito, Componente eletrónico&#10;&#10;Os conteúdos gerados por IA podem estar incorretos.">
            <a:extLst>
              <a:ext uri="{FF2B5EF4-FFF2-40B4-BE49-F238E27FC236}">
                <a16:creationId xmlns:a16="http://schemas.microsoft.com/office/drawing/2014/main" id="{11301F04-13E2-FEED-99E1-9A727B5EB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7" t="12026" r="10113"/>
          <a:stretch>
            <a:fillRect/>
          </a:stretch>
        </p:blipFill>
        <p:spPr>
          <a:xfrm>
            <a:off x="8552747" y="2628471"/>
            <a:ext cx="3398518" cy="20044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 descr="Uma imagem com Componente eletrónico, Engenharia eletrónica, Componente de circuito, eletrónica&#10;&#10;Os conteúdos gerados por IA podem estar incorretos.">
            <a:extLst>
              <a:ext uri="{FF2B5EF4-FFF2-40B4-BE49-F238E27FC236}">
                <a16:creationId xmlns:a16="http://schemas.microsoft.com/office/drawing/2014/main" id="{63950B6D-A2D3-A85B-F27A-9EE59011E8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6" t="13823" r="20834"/>
          <a:stretch>
            <a:fillRect/>
          </a:stretch>
        </p:blipFill>
        <p:spPr>
          <a:xfrm>
            <a:off x="5742388" y="674256"/>
            <a:ext cx="2558332" cy="17031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m 10" descr="Uma imagem com parede, interior, candeeiro, luz&#10;&#10;Os conteúdos gerados por IA podem estar incorretos.">
            <a:extLst>
              <a:ext uri="{FF2B5EF4-FFF2-40B4-BE49-F238E27FC236}">
                <a16:creationId xmlns:a16="http://schemas.microsoft.com/office/drawing/2014/main" id="{684670E8-FA1B-EC06-E6BF-0D8FEC570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1" r="25685"/>
          <a:stretch>
            <a:fillRect/>
          </a:stretch>
        </p:blipFill>
        <p:spPr>
          <a:xfrm>
            <a:off x="5742388" y="2628470"/>
            <a:ext cx="2558332" cy="20044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m 14" descr="Uma imagem com eletrónica, Engenharia eletrónica, Fios elétricos, cabo&#10;&#10;Os conteúdos gerados por IA podem estar incorretos.">
            <a:extLst>
              <a:ext uri="{FF2B5EF4-FFF2-40B4-BE49-F238E27FC236}">
                <a16:creationId xmlns:a16="http://schemas.microsoft.com/office/drawing/2014/main" id="{04B5808B-065D-93FA-4EB1-B42C1B2242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1"/>
          <a:stretch>
            <a:fillRect/>
          </a:stretch>
        </p:blipFill>
        <p:spPr>
          <a:xfrm>
            <a:off x="131589" y="1561408"/>
            <a:ext cx="5358772" cy="28886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Imagem 16" descr="Uma imagem com Engenharia eletrónica, eletrónica, Fios elétricos, cabo&#10;&#10;Os conteúdos gerados por IA podem estar incorretos.">
            <a:extLst>
              <a:ext uri="{FF2B5EF4-FFF2-40B4-BE49-F238E27FC236}">
                <a16:creationId xmlns:a16="http://schemas.microsoft.com/office/drawing/2014/main" id="{28905C01-AA46-4D2B-D563-68BBBCB259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9" y="4541520"/>
            <a:ext cx="4797778" cy="215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Imagem 18" descr="Uma imagem com texto, pilha&#10;&#10;Os conteúdos gerados por IA podem estar incorretos.">
            <a:extLst>
              <a:ext uri="{FF2B5EF4-FFF2-40B4-BE49-F238E27FC236}">
                <a16:creationId xmlns:a16="http://schemas.microsoft.com/office/drawing/2014/main" id="{9CBB0AF2-5F18-8F40-B77E-A862DD9923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1" t="15034" r="29879"/>
          <a:stretch>
            <a:fillRect/>
          </a:stretch>
        </p:blipFill>
        <p:spPr>
          <a:xfrm>
            <a:off x="5229265" y="4750357"/>
            <a:ext cx="2289136" cy="1950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599605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29E2-26D2-4F49-3A76-BC5DC56D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EB3C5B95-BBD5-22C6-8FB2-5A00815C543C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Programação</a:t>
            </a:r>
          </a:p>
        </p:txBody>
      </p:sp>
      <p:sp>
        <p:nvSpPr>
          <p:cNvPr id="2" name="Google Shape;1422;p49">
            <a:extLst>
              <a:ext uri="{FF2B5EF4-FFF2-40B4-BE49-F238E27FC236}">
                <a16:creationId xmlns:a16="http://schemas.microsoft.com/office/drawing/2014/main" id="{46F0E199-E359-4848-1F53-8C7BE0624F0C}"/>
              </a:ext>
            </a:extLst>
          </p:cNvPr>
          <p:cNvSpPr txBox="1">
            <a:spLocks/>
          </p:cNvSpPr>
          <p:nvPr/>
        </p:nvSpPr>
        <p:spPr>
          <a:xfrm>
            <a:off x="468802" y="1213238"/>
            <a:ext cx="62438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Python</a:t>
            </a:r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(no PC):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OpenCV</a:t>
            </a: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para visão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PID para controlo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Interface gráfica com </a:t>
            </a:r>
            <a:r>
              <a:rPr lang="pt-PT" sz="20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sliders</a:t>
            </a: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(</a:t>
            </a:r>
            <a:r>
              <a:rPr lang="pt-PT" sz="20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CustomTkinter</a:t>
            </a: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)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Envio de comandos para o Arduino</a:t>
            </a:r>
          </a:p>
        </p:txBody>
      </p:sp>
      <p:sp>
        <p:nvSpPr>
          <p:cNvPr id="4" name="Google Shape;1422;p49">
            <a:extLst>
              <a:ext uri="{FF2B5EF4-FFF2-40B4-BE49-F238E27FC236}">
                <a16:creationId xmlns:a16="http://schemas.microsoft.com/office/drawing/2014/main" id="{FBBA4F64-37DF-1839-4A7A-C8EC322C4CB1}"/>
              </a:ext>
            </a:extLst>
          </p:cNvPr>
          <p:cNvSpPr txBox="1">
            <a:spLocks/>
          </p:cNvSpPr>
          <p:nvPr/>
        </p:nvSpPr>
        <p:spPr>
          <a:xfrm>
            <a:off x="6264441" y="1213238"/>
            <a:ext cx="592755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Arduino: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Recebe comandos via serial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Controla servos com PCA9685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0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Aplica limites de segurança definidos na calibração</a:t>
            </a:r>
          </a:p>
        </p:txBody>
      </p:sp>
    </p:spTree>
    <p:extLst>
      <p:ext uri="{BB962C8B-B14F-4D97-AF65-F5344CB8AC3E}">
        <p14:creationId xmlns:p14="http://schemas.microsoft.com/office/powerpoint/2010/main" val="108860850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51BF-7067-B146-6D7D-79E72A69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2B2C3BB3-5DF7-4699-65C1-5DB071819AF4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Programação</a:t>
            </a:r>
          </a:p>
        </p:txBody>
      </p:sp>
      <p:sp>
        <p:nvSpPr>
          <p:cNvPr id="2" name="Google Shape;1422;p49">
            <a:extLst>
              <a:ext uri="{FF2B5EF4-FFF2-40B4-BE49-F238E27FC236}">
                <a16:creationId xmlns:a16="http://schemas.microsoft.com/office/drawing/2014/main" id="{6C61EC71-F520-CE39-3AC0-CE07F97EA640}"/>
              </a:ext>
            </a:extLst>
          </p:cNvPr>
          <p:cNvSpPr txBox="1">
            <a:spLocks/>
          </p:cNvSpPr>
          <p:nvPr/>
        </p:nvSpPr>
        <p:spPr>
          <a:xfrm>
            <a:off x="251632" y="1212746"/>
            <a:ext cx="6243816" cy="880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Python</a:t>
            </a:r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(no PC):</a:t>
            </a:r>
          </a:p>
        </p:txBody>
      </p:sp>
      <p:sp>
        <p:nvSpPr>
          <p:cNvPr id="4" name="Google Shape;1422;p49">
            <a:extLst>
              <a:ext uri="{FF2B5EF4-FFF2-40B4-BE49-F238E27FC236}">
                <a16:creationId xmlns:a16="http://schemas.microsoft.com/office/drawing/2014/main" id="{491B3215-74EF-A52E-A0A8-65A0E145F9AF}"/>
              </a:ext>
            </a:extLst>
          </p:cNvPr>
          <p:cNvSpPr txBox="1">
            <a:spLocks/>
          </p:cNvSpPr>
          <p:nvPr/>
        </p:nvSpPr>
        <p:spPr>
          <a:xfrm>
            <a:off x="6264441" y="1213238"/>
            <a:ext cx="5927559" cy="1093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Arduino: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6A916B-2D4D-AE2B-3831-1BD6B585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053" y="2092961"/>
            <a:ext cx="6274205" cy="42773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063F9A2-7D2E-E36B-D9AD-0ACF4304C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2" y="2092961"/>
            <a:ext cx="5229638" cy="42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32110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607C8-8DE7-1CF9-4E9C-EB4C326D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A626DE37-B70C-D8B8-1144-F7D625043F0D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Calibração dos servomotores</a:t>
            </a:r>
          </a:p>
        </p:txBody>
      </p:sp>
      <p:pic>
        <p:nvPicPr>
          <p:cNvPr id="9" name="Imagem 8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F762C005-79E3-603B-8E09-C40177D759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423"/>
          <a:stretch>
            <a:fillRect/>
          </a:stretch>
        </p:blipFill>
        <p:spPr>
          <a:xfrm>
            <a:off x="149405" y="1590040"/>
            <a:ext cx="5434966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948583A-D3AB-9251-EF83-DBD06AC8FFF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8"/>
          <a:stretch>
            <a:fillRect/>
          </a:stretch>
        </p:blipFill>
        <p:spPr bwMode="auto">
          <a:xfrm>
            <a:off x="5772150" y="1590040"/>
            <a:ext cx="6342492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799904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5936-B432-05C8-B351-9888198B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51C8E183-EB97-547E-9D81-D2B39D8CCA65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Calibração PID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BE1862-1408-32AE-7AB2-3999FE08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6" y="1702446"/>
            <a:ext cx="11168744" cy="46590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4740415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E41B-E08C-19CC-462D-D9F894A8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0FD2F1DD-7FEA-C70C-D453-8DC3FC14FB99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Calibração PID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39C09F-8EA7-4B4C-1C83-8AAD29B2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92" y="1514186"/>
            <a:ext cx="6573248" cy="52248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353131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3DC17-0743-95E7-BA6E-A233441F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6F2606B2-3875-85CA-0BC8-E2743D5E7D95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Calibração PID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E6F949-CE8E-4BFB-BE70-1F027B2DB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9" y="1689440"/>
            <a:ext cx="7755955" cy="49755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2430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2C67-0C3E-3D72-52F6-F6972A7E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0F6F97C3-0EC9-F990-6ABB-03861F8FB684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1687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Calibração PID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32F88A-F847-5419-1C0E-81F7BC0E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6" y="1504660"/>
            <a:ext cx="7147954" cy="52643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3503585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EDC66-1BAB-CCA1-3747-7B42A755F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E147AF23-557B-AEED-12BC-A1FA899D48BD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18262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Calibração </a:t>
            </a:r>
            <a:r>
              <a:rPr lang="pt-PT" dirty="0" err="1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Ziegler-Nichols</a:t>
            </a:r>
            <a:r>
              <a:rPr lang="pt-PT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– calibração ZN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B2923F9-19A7-F716-1736-E4D94A880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54" y="1607185"/>
            <a:ext cx="11107249" cy="1893253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BFBAC56D-2394-3796-34FA-714A436AD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53" y="3624897"/>
            <a:ext cx="7403109" cy="3131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1360331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58D2-0C7B-F07E-6550-049E0B84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F4069AB1-53E0-9366-6FDE-C50481D052D7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085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 se o sistema aprendesse sozinho?</a:t>
            </a:r>
          </a:p>
        </p:txBody>
      </p:sp>
      <p:sp>
        <p:nvSpPr>
          <p:cNvPr id="5" name="Google Shape;1422;p49">
            <a:extLst>
              <a:ext uri="{FF2B5EF4-FFF2-40B4-BE49-F238E27FC236}">
                <a16:creationId xmlns:a16="http://schemas.microsoft.com/office/drawing/2014/main" id="{D70AF5FF-6D8A-107C-FE11-3961D2ADB67B}"/>
              </a:ext>
            </a:extLst>
          </p:cNvPr>
          <p:cNvSpPr txBox="1">
            <a:spLocks/>
          </p:cNvSpPr>
          <p:nvPr/>
        </p:nvSpPr>
        <p:spPr>
          <a:xfrm>
            <a:off x="715413" y="1278310"/>
            <a:ext cx="1097176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pt-PT" sz="36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"Será possível substituir a afinação manual por aprendizagem automática em tempo real, com base no comportamento observado?"</a:t>
            </a:r>
          </a:p>
        </p:txBody>
      </p:sp>
    </p:spTree>
    <p:extLst>
      <p:ext uri="{BB962C8B-B14F-4D97-AF65-F5344CB8AC3E}">
        <p14:creationId xmlns:p14="http://schemas.microsoft.com/office/powerpoint/2010/main" val="1171681006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8106-15F6-6B60-625E-779A7569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6B806C17-62A4-81B5-03FC-1B731A4982EC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085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Integração futura de algoritmos inteligentes</a:t>
            </a:r>
          </a:p>
        </p:txBody>
      </p:sp>
      <p:sp>
        <p:nvSpPr>
          <p:cNvPr id="5" name="Google Shape;1422;p49">
            <a:extLst>
              <a:ext uri="{FF2B5EF4-FFF2-40B4-BE49-F238E27FC236}">
                <a16:creationId xmlns:a16="http://schemas.microsoft.com/office/drawing/2014/main" id="{F3F00511-42AB-0339-D106-BBDA0671456B}"/>
              </a:ext>
            </a:extLst>
          </p:cNvPr>
          <p:cNvSpPr txBox="1">
            <a:spLocks/>
          </p:cNvSpPr>
          <p:nvPr/>
        </p:nvSpPr>
        <p:spPr>
          <a:xfrm>
            <a:off x="715412" y="1059235"/>
            <a:ext cx="109622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Aplicação direta em ambiente físico (sem simulação)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Ajuste automático de PID ou aprendizagem de estratégias com RL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Processo baseado em episódios, métricas reais e validação iterativa</a:t>
            </a:r>
          </a:p>
        </p:txBody>
      </p:sp>
      <p:pic>
        <p:nvPicPr>
          <p:cNvPr id="9" name="Imagem 8" descr="Uma imagem com mesa, interior, mobília, máquina&#10;&#10;Os conteúdos gerados por IA podem estar incorretos.">
            <a:extLst>
              <a:ext uri="{FF2B5EF4-FFF2-40B4-BE49-F238E27FC236}">
                <a16:creationId xmlns:a16="http://schemas.microsoft.com/office/drawing/2014/main" id="{ADD0AAD9-37E1-668E-C75C-34CD999F8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275400"/>
            <a:ext cx="7622667" cy="34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65924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AF0F-A1B0-6353-734B-77463B99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35A91124-8EC3-7680-4A74-535DA0636EF1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085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Comparação: </a:t>
            </a:r>
            <a:r>
              <a:rPr lang="pt-PT" sz="3200" dirty="0" err="1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Gymnasium</a:t>
            </a: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vs</a:t>
            </a: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OpenBalance</a:t>
            </a:r>
            <a:endParaRPr lang="pt-PT" sz="3200" dirty="0">
              <a:solidFill>
                <a:schemeClr val="bg1"/>
              </a:solidFill>
              <a:latin typeface="Aharoni" panose="02010803020104030203" pitchFamily="2" charset="-79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pic>
        <p:nvPicPr>
          <p:cNvPr id="2050" name="Picture 2" descr="Imagem criada">
            <a:extLst>
              <a:ext uri="{FF2B5EF4-FFF2-40B4-BE49-F238E27FC236}">
                <a16:creationId xmlns:a16="http://schemas.microsoft.com/office/drawing/2014/main" id="{7B167C8F-6CB5-D4D0-36D6-1F1D4467F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076" y="1434975"/>
            <a:ext cx="4538348" cy="4538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F4B73A5-9E7A-1DD4-A79E-53E5F5703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1" y="1434974"/>
            <a:ext cx="2828925" cy="2120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 descr="Uma imagem com texto, interior, parede, arte&#10;&#10;Os conteúdos gerados por IA podem estar incorretos.">
            <a:extLst>
              <a:ext uri="{FF2B5EF4-FFF2-40B4-BE49-F238E27FC236}">
                <a16:creationId xmlns:a16="http://schemas.microsoft.com/office/drawing/2014/main" id="{410AB838-B9C9-F3BD-648B-573EEC46B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8" t="19621" b="6672"/>
          <a:stretch>
            <a:fillRect/>
          </a:stretch>
        </p:blipFill>
        <p:spPr>
          <a:xfrm>
            <a:off x="7927024" y="1434974"/>
            <a:ext cx="1986487" cy="3422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1ED546-049D-6C1F-395D-5199F865B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1" y="4383769"/>
            <a:ext cx="2828925" cy="1589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m 10" descr="Uma imagem com Equipamento desportivo, mesa, interior, bola&#10;&#10;Os conteúdos gerados por IA podem estar incorretos.">
            <a:extLst>
              <a:ext uri="{FF2B5EF4-FFF2-40B4-BE49-F238E27FC236}">
                <a16:creationId xmlns:a16="http://schemas.microsoft.com/office/drawing/2014/main" id="{241C6BC0-0558-CB03-CF61-C564C84F37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584" y="4947139"/>
            <a:ext cx="4061853" cy="18278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m 12" descr="Uma imagem com interior, parede, piso, azul&#10;&#10;Os conteúdos gerados por IA podem estar incorretos.">
            <a:extLst>
              <a:ext uri="{FF2B5EF4-FFF2-40B4-BE49-F238E27FC236}">
                <a16:creationId xmlns:a16="http://schemas.microsoft.com/office/drawing/2014/main" id="{D32148FF-AED7-CDD5-C7A3-35E9D5C53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0"/>
          <a:stretch>
            <a:fillRect/>
          </a:stretch>
        </p:blipFill>
        <p:spPr>
          <a:xfrm>
            <a:off x="10142111" y="1434974"/>
            <a:ext cx="1738184" cy="3427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9539176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83342-81EC-5497-3305-C8CD4B75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2;p49">
            <a:extLst>
              <a:ext uri="{FF2B5EF4-FFF2-40B4-BE49-F238E27FC236}">
                <a16:creationId xmlns:a16="http://schemas.microsoft.com/office/drawing/2014/main" id="{237DAAB7-70AD-36D3-DE3F-189A47690E37}"/>
              </a:ext>
            </a:extLst>
          </p:cNvPr>
          <p:cNvSpPr txBox="1">
            <a:spLocks/>
          </p:cNvSpPr>
          <p:nvPr/>
        </p:nvSpPr>
        <p:spPr>
          <a:xfrm>
            <a:off x="0" y="772885"/>
            <a:ext cx="1085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Etapas para otimização/aprendizagem</a:t>
            </a:r>
          </a:p>
        </p:txBody>
      </p:sp>
      <p:sp>
        <p:nvSpPr>
          <p:cNvPr id="5" name="Google Shape;1422;p49">
            <a:extLst>
              <a:ext uri="{FF2B5EF4-FFF2-40B4-BE49-F238E27FC236}">
                <a16:creationId xmlns:a16="http://schemas.microsoft.com/office/drawing/2014/main" id="{BE5BDAF1-A34A-250D-8CD0-9C02950E8290}"/>
              </a:ext>
            </a:extLst>
          </p:cNvPr>
          <p:cNvSpPr txBox="1">
            <a:spLocks/>
          </p:cNvSpPr>
          <p:nvPr/>
        </p:nvSpPr>
        <p:spPr>
          <a:xfrm>
            <a:off x="715413" y="1278310"/>
            <a:ext cx="94276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Definir parâmetros a otimizar (</a:t>
            </a:r>
            <a:r>
              <a:rPr lang="pt-PT" sz="24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ex</a:t>
            </a: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: </a:t>
            </a:r>
            <a:r>
              <a:rPr lang="pt-PT" sz="24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Kp</a:t>
            </a: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, </a:t>
            </a:r>
            <a:r>
              <a:rPr lang="pt-PT" sz="24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Ki</a:t>
            </a: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, </a:t>
            </a:r>
            <a:r>
              <a:rPr lang="pt-PT" sz="2400" dirty="0" err="1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Kd</a:t>
            </a: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)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Preparar sistema e segurança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Executar episódios com métricas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→ erro médio, tempo até falha, nº de colisões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Aplicar algoritmo de otimização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Hill </a:t>
            </a:r>
            <a:r>
              <a:rPr lang="pt-PT" sz="2400" dirty="0" err="1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Climbing</a:t>
            </a:r>
            <a:r>
              <a:rPr lang="pt-PT" sz="24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, </a:t>
            </a:r>
            <a:r>
              <a:rPr lang="pt-PT" sz="2400" dirty="0" err="1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Q-Learning</a:t>
            </a:r>
            <a:r>
              <a:rPr lang="pt-PT" sz="24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, </a:t>
            </a:r>
            <a:r>
              <a:rPr lang="pt-PT" sz="2400" dirty="0" err="1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etc</a:t>
            </a:r>
            <a:endParaRPr lang="pt-PT" sz="2400" dirty="0">
              <a:latin typeface="Aharoni" panose="02010803020104030203" pitchFamily="2" charset="-79"/>
              <a:ea typeface="ADLaM Display" panose="02010000000000000000" pitchFamily="2" charset="0"/>
              <a:cs typeface="Aharoni" panose="02010803020104030203" pitchFamily="2" charset="-79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pt-PT" sz="2400" dirty="0">
                <a:solidFill>
                  <a:srgbClr val="FFFF00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Avaliar e validar robustez final</a:t>
            </a:r>
          </a:p>
        </p:txBody>
      </p:sp>
    </p:spTree>
    <p:extLst>
      <p:ext uri="{BB962C8B-B14F-4D97-AF65-F5344CB8AC3E}">
        <p14:creationId xmlns:p14="http://schemas.microsoft.com/office/powerpoint/2010/main" val="350420793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337</Words>
  <Application>Microsoft Office PowerPoint</Application>
  <PresentationFormat>Ecrã Panorâmico</PresentationFormat>
  <Paragraphs>62</Paragraphs>
  <Slides>19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5" baseType="lpstr">
      <vt:lpstr>Aharoni</vt:lpstr>
      <vt:lpstr>Anton</vt:lpstr>
      <vt:lpstr>Aptos</vt:lpstr>
      <vt:lpstr>Aptos Display</vt:lpstr>
      <vt:lpstr>Arial</vt:lpstr>
      <vt:lpstr>Tema do Office</vt:lpstr>
      <vt:lpstr> OpenBalance  Plataforma de Equilíbrio com Controlo PID e Visão Computacional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RS. Pavão</dc:creator>
  <cp:lastModifiedBy>João RS. Pavão</cp:lastModifiedBy>
  <cp:revision>61</cp:revision>
  <dcterms:created xsi:type="dcterms:W3CDTF">2025-05-07T21:44:56Z</dcterms:created>
  <dcterms:modified xsi:type="dcterms:W3CDTF">2025-06-27T17:46:28Z</dcterms:modified>
</cp:coreProperties>
</file>